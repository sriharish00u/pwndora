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4F4F5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F4F4F5"/>
                </a:solidFill>
                <a:latin typeface="Calibri"/>
              </a:rPr>
              <a:t>Severity Escalates With Each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CVSS Base Score</c:v>
                </c:pt>
              </c:strCache>
            </c:strRef>
          </c:tx>
          <c:spPr>
            <a:solidFill>
              <a:srgbClr val="F5A52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4F4F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Stage 1
Auth/Authz</c:v>
                </c:pt>
                <c:pt idx="1">
                  <c:v>Stage 2
Injection</c:v>
                </c:pt>
                <c:pt idx="2">
                  <c:v>Stage 3
Server-Side</c:v>
                </c:pt>
                <c:pt idx="3">
                  <c:v>Stage 4
Privesc/Exfil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7.8</c:v>
                </c:pt>
                <c:pt idx="2">
                  <c:v>8.6</c:v>
                </c:pt>
                <c:pt idx="3">
                  <c:v>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3E-446C-9D3A-19F768C39C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2E3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AA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9525" cap="flat">
              <a:solidFill>
                <a:srgbClr val="2E2E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E2E33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A9A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214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212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41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INNOVATIVE ILLS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120700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HR PORTAL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Vulnerability Chain Exploitation Lab for PWNDORA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0"/>
          </a:xfrm>
          <a:prstGeom prst="line">
            <a:avLst/>
          </a:prstGeom>
          <a:noFill/>
          <a:ln w="12700">
            <a:solidFill>
              <a:srgbClr val="2E2E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3896" y="2834640"/>
            <a:ext cx="731520" cy="73152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53896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8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5"/>
                </a:solidFill>
                <a:latin typeface="Century Schoolbook" pitchFamily="34" charset="0"/>
              </a:rPr>
              <a:t>Gery Anton 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3891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834640"/>
            <a:ext cx="731520" cy="73152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80" dirty="0"/>
          </a:p>
        </p:txBody>
      </p:sp>
      <p:sp>
        <p:nvSpPr>
          <p:cNvPr id="14" name="Text 12"/>
          <p:cNvSpPr/>
          <p:nvPr/>
        </p:nvSpPr>
        <p:spPr>
          <a:xfrm>
            <a:off x="3483864" y="37490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5"/>
                </a:solidFill>
                <a:latin typeface="Century Schoolbook" pitchFamily="34" charset="0"/>
              </a:rPr>
              <a:t>Jay Harish 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83864" y="43891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 Docker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44768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0024" y="2834640"/>
            <a:ext cx="731520" cy="73152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0024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80" dirty="0"/>
          </a:p>
        </p:txBody>
      </p:sp>
      <p:sp>
        <p:nvSpPr>
          <p:cNvPr id="19" name="Text 17"/>
          <p:cNvSpPr/>
          <p:nvPr/>
        </p:nvSpPr>
        <p:spPr>
          <a:xfrm>
            <a:off x="6281928" y="37490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5"/>
                </a:solidFill>
                <a:latin typeface="Century Schoolbook" pitchFamily="34" charset="0"/>
              </a:rPr>
              <a:t>Sujith 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81928" y="43891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UX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42832" y="251460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48088" y="2834640"/>
            <a:ext cx="731520" cy="73152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48088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80" dirty="0"/>
          </a:p>
        </p:txBody>
      </p:sp>
      <p:sp>
        <p:nvSpPr>
          <p:cNvPr id="24" name="Text 22"/>
          <p:cNvSpPr/>
          <p:nvPr/>
        </p:nvSpPr>
        <p:spPr>
          <a:xfrm>
            <a:off x="9079992" y="374904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F4F5"/>
                </a:solidFill>
                <a:latin typeface="Century Schoolbook" pitchFamily="34" charset="0"/>
              </a:rPr>
              <a:t>Surya 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79992" y="438912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/Security Research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623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Code: BSCDS26-SODE-02   |   Track: T-05 SODE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 Pentests Chain Flaws. Most Labs Don't.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20" dirty="0"/>
          </a:p>
        </p:txBody>
      </p:sp>
      <p:sp>
        <p:nvSpPr>
          <p:cNvPr id="6" name="Text 4"/>
          <p:cNvSpPr/>
          <p:nvPr/>
        </p:nvSpPr>
        <p:spPr>
          <a:xfrm>
            <a:off x="1600200" y="1783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Isolated by design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194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web-security labs teach one vulnerability at a time — SQLi here, IDOR there — never in sequence.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00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20" dirty="0"/>
          </a:p>
        </p:txBody>
      </p:sp>
      <p:sp>
        <p:nvSpPr>
          <p:cNvPr id="10" name="Text 8"/>
          <p:cNvSpPr/>
          <p:nvPr/>
        </p:nvSpPr>
        <p:spPr>
          <a:xfrm>
            <a:off x="1600200" y="3154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 exploit reasoning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00200" y="35661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can spot a single flaw but can't reason through a full attack path the way a real engagement demands.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572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E54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160020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Missing the advanced tier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00200" y="49377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PWNDORA's catalog needs a module built for OSCP / PNPT-level learners preparing for real-world compromise scenarios.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Meridian HR Portal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containerised, deliberately vulnerable enterprise HR web application — built to look and behave like real corporate software, not an obvious training box.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1E1E22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429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4 chained vulnerabilities, exploited strictly in sequence. Each stage yields a credential or token required to unlock the next — no stage can be skipped or brute-forced past.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92808"/>
            <a:ext cx="365760" cy="365760"/>
          </a:xfrm>
          <a:prstGeom prst="ellipse">
            <a:avLst/>
          </a:prstGeom>
          <a:solidFill>
            <a:srgbClr val="121214"/>
          </a:solidFill>
          <a:ln w="15875">
            <a:solidFill>
              <a:srgbClr val="3DD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8C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6733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vulnerability class per stage — Auth, Injection, Server-side, Privesc/Exfil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715768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3008376"/>
            <a:ext cx="365760" cy="365760"/>
          </a:xfrm>
          <a:prstGeom prst="ellipse">
            <a:avLst/>
          </a:prstGeom>
          <a:solidFill>
            <a:srgbClr val="121214"/>
          </a:solidFill>
          <a:ln w="15875">
            <a:solidFill>
              <a:srgbClr val="3DD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8C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stage gates — client cannot skip ahead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831336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123944"/>
            <a:ext cx="365760" cy="365760"/>
          </a:xfrm>
          <a:prstGeom prst="ellipse">
            <a:avLst/>
          </a:prstGeom>
          <a:solidFill>
            <a:srgbClr val="121214"/>
          </a:solidFill>
          <a:ln w="15875">
            <a:solidFill>
              <a:srgbClr val="3DD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8C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39044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fictional corporate app with consistent hostnames &amp; fake employee data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4946904"/>
            <a:ext cx="5440680" cy="960120"/>
          </a:xfrm>
          <a:prstGeom prst="roundRect">
            <a:avLst>
              <a:gd name="adj" fmla="val 6667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5239512"/>
            <a:ext cx="365760" cy="365760"/>
          </a:xfrm>
          <a:prstGeom prst="ellipse">
            <a:avLst/>
          </a:prstGeom>
          <a:solidFill>
            <a:srgbClr val="121214"/>
          </a:solidFill>
          <a:ln w="15875">
            <a:solidFill>
              <a:srgbClr val="3DD6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5239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D68C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03720" y="5020056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docker-compose up — one command, full environment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Stages. One Continuous Compromise.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87168" cy="3566160"/>
          </a:xfrm>
          <a:prstGeom prst="roundRect">
            <a:avLst>
              <a:gd name="adj" fmla="val 2941"/>
            </a:avLst>
          </a:prstGeom>
          <a:solidFill>
            <a:srgbClr val="1E1E22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72184" y="224028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7218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Authentication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Authorization Flaw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4297680"/>
            <a:ext cx="1847088" cy="0"/>
          </a:xfrm>
          <a:prstGeom prst="line">
            <a:avLst/>
          </a:prstGeom>
          <a:noFill/>
          <a:ln w="12700">
            <a:solidFill>
              <a:srgbClr val="2E2E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443484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a credential / token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35808" y="342900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9AA2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28416" y="1965960"/>
            <a:ext cx="2487168" cy="3566160"/>
          </a:xfrm>
          <a:prstGeom prst="roundRect">
            <a:avLst>
              <a:gd name="adj" fmla="val 2941"/>
            </a:avLst>
          </a:prstGeom>
          <a:solidFill>
            <a:srgbClr val="1E1E22"/>
          </a:solidFill>
          <a:ln w="15875">
            <a:solidFill>
              <a:srgbClr val="F299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224028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2994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3465576" y="3017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65576" y="33375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Injection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Vulnerability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48456" y="4297680"/>
            <a:ext cx="1847088" cy="0"/>
          </a:xfrm>
          <a:prstGeom prst="line">
            <a:avLst/>
          </a:prstGeom>
          <a:noFill/>
          <a:ln w="12700">
            <a:solidFill>
              <a:srgbClr val="2E2E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443484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by Stage 1 artifact — extracts doc ID / hash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15584" y="342900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9AA2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108192" y="1965960"/>
            <a:ext cx="2487168" cy="3566160"/>
          </a:xfrm>
          <a:prstGeom prst="roundRect">
            <a:avLst>
              <a:gd name="adj" fmla="val 2941"/>
            </a:avLst>
          </a:prstGeom>
          <a:solidFill>
            <a:srgbClr val="1E1E22"/>
          </a:solidFill>
          <a:ln w="15875">
            <a:solidFill>
              <a:srgbClr val="F254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224028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254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317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2545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20" dirty="0"/>
          </a:p>
        </p:txBody>
      </p:sp>
      <p:sp>
        <p:nvSpPr>
          <p:cNvPr id="23" name="Text 21"/>
          <p:cNvSpPr/>
          <p:nvPr/>
        </p:nvSpPr>
        <p:spPr>
          <a:xfrm>
            <a:off x="6245352" y="3017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2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45352" y="33375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Server-Side Flaw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(SSRF / XXE / Path Traversal)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28232" y="4297680"/>
            <a:ext cx="1847088" cy="0"/>
          </a:xfrm>
          <a:prstGeom prst="line">
            <a:avLst/>
          </a:prstGeom>
          <a:noFill/>
          <a:ln w="12700">
            <a:solidFill>
              <a:srgbClr val="2E2E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72784" y="443484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Pivots to internal resource — retrieves privileged token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95360" y="342900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A9AA2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8887968" y="1965960"/>
            <a:ext cx="2487168" cy="3566160"/>
          </a:xfrm>
          <a:prstGeom prst="roundRect">
            <a:avLst>
              <a:gd name="adj" fmla="val 2941"/>
            </a:avLst>
          </a:prstGeom>
          <a:solidFill>
            <a:srgbClr val="1E1E22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11512" y="2240280"/>
            <a:ext cx="640080" cy="64008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1151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E548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20" dirty="0"/>
          </a:p>
        </p:txBody>
      </p:sp>
      <p:sp>
        <p:nvSpPr>
          <p:cNvPr id="31" name="Text 29"/>
          <p:cNvSpPr/>
          <p:nvPr/>
        </p:nvSpPr>
        <p:spPr>
          <a:xfrm>
            <a:off x="9025128" y="3017520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25128" y="333756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Privilege Escalation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Exfiltration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9208008" y="4297680"/>
            <a:ext cx="1847088" cy="0"/>
          </a:xfrm>
          <a:prstGeom prst="line">
            <a:avLst/>
          </a:prstGeom>
          <a:noFill/>
          <a:ln w="12700">
            <a:solidFill>
              <a:srgbClr val="2E2E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443484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compromise confirmed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validated server-side against stored progress — never trusted from the client.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Meridian HR Portal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1051560"/>
          </a:xfrm>
          <a:prstGeom prst="roundRect">
            <a:avLst>
              <a:gd name="adj" fmla="val 6087"/>
            </a:avLst>
          </a:prstGeom>
          <a:solidFill>
            <a:srgbClr val="1E1E22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56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Learner Browser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PWNDORA iframe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18288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1E1E22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956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UI, progress overlay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1E1E22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95681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52160" y="235915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stage &amp; report routes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148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9AA2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2148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9AA2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3429000"/>
            <a:ext cx="3108960" cy="1051560"/>
          </a:xfrm>
          <a:prstGeom prst="roundRect">
            <a:avLst>
              <a:gd name="adj" fmla="val 6087"/>
            </a:avLst>
          </a:prstGeom>
          <a:solidFill>
            <a:srgbClr val="232327"/>
          </a:solidFill>
          <a:ln w="15875">
            <a:solidFill>
              <a:srgbClr val="E548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35387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Stage-Gate Engine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25780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only. Validates tokens / credentials per stage transition.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412480" y="3429000"/>
            <a:ext cx="2880360" cy="1051560"/>
          </a:xfrm>
          <a:prstGeom prst="roundRect">
            <a:avLst>
              <a:gd name="adj" fmla="val 6087"/>
            </a:avLst>
          </a:prstGeom>
          <a:solidFill>
            <a:srgbClr val="232327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9640" y="353872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49640" y="3886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HR records, users, docs, session &amp; progress state.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0" y="4709160"/>
            <a:ext cx="2880360" cy="1051560"/>
          </a:xfrm>
          <a:prstGeom prst="roundRect">
            <a:avLst>
              <a:gd name="adj" fmla="val 6087"/>
            </a:avLst>
          </a:prstGeom>
          <a:solidFill>
            <a:srgbClr val="232327"/>
          </a:solidFill>
          <a:ln w="15875">
            <a:solidFill>
              <a:srgbClr val="3DD6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4818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Report Generator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97880" y="5166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scores, chaining narrative, remediation, per finding.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429000"/>
            <a:ext cx="4114800" cy="2331720"/>
          </a:xfrm>
          <a:prstGeom prst="roundRect">
            <a:avLst>
              <a:gd name="adj" fmla="val 3137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977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stage-gate logic lives server-side. The 4 intentional vulnerabilities are the only vulnerabilities — session handling, container isolation, and rate limiting are fully hardened around them.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237744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121214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8448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1546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76656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52928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02736" y="237744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121214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2736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62656" y="31546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80944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API layer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57216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07024" y="237744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121214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07024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66944" y="31546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85232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session &amp; progress persistence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61504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11312" y="237744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121214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571232" y="31546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Containers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589520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multi-stage build, docker-compose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65792" y="2103120"/>
            <a:ext cx="2084832" cy="2377440"/>
          </a:xfrm>
          <a:prstGeom prst="roundRect">
            <a:avLst>
              <a:gd name="adj" fmla="val 3509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0" y="2377440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121214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23774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875520" y="315468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Isolation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893808" y="3520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container / network namespace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— docker-compose up — launches the full learner environment, isolated per session.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LEARNERS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Platform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Progress Tracker Overlay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Stage 1–4 status and elapsed time, always visible during the attempt.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7315200" y="19476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Point-Costed Hint System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 hints per stage, server-enforced deductions — no client-side cheating.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/>
          <p:nvPr/>
        </p:nvSpPr>
        <p:spPr>
          <a:xfrm>
            <a:off x="1600200" y="4142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Pentest Report Generator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68680" y="4800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Auto-built CVSS v3.1 score, OWASP + MITRE mapping, chaining narrative, remediation.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232327"/>
          </a:solidFill>
          <a:ln w="1905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/>
          <p:nvPr/>
        </p:nvSpPr>
        <p:spPr>
          <a:xfrm>
            <a:off x="7315200" y="4142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Defensive Code Review Mode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583680" y="48006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Post-exploitation: learners view vulnerable source, flag the bad lines, propose a fix.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SECURITY-BY-DESIGN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Only 4 Doors In — Everything Else Is Locked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29968"/>
            <a:ext cx="384048" cy="384048"/>
          </a:xfrm>
          <a:prstGeom prst="ellipse">
            <a:avLst/>
          </a:prstGeom>
          <a:solidFill>
            <a:srgbClr val="121214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8C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stage validation — cannot be bypassed by client-side manipulation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081528"/>
            <a:ext cx="384048" cy="384048"/>
          </a:xfrm>
          <a:prstGeom prst="ellipse">
            <a:avLst/>
          </a:prstGeom>
          <a:solidFill>
            <a:srgbClr val="121214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8C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8346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can try to skip Stage 2 without solving Stage 1 — the gate holds every time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133088"/>
            <a:ext cx="384048" cy="384048"/>
          </a:xfrm>
          <a:prstGeom prst="ellipse">
            <a:avLst/>
          </a:prstGeom>
          <a:solidFill>
            <a:srgbClr val="121214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8C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8862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session runs in an isolated container / network namespace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232327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121214"/>
          </a:solidFill>
          <a:ln w="19050">
            <a:solidFill>
              <a:srgbClr val="3DD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D68C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93776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 — no real employee or organisational data, anywhere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Report Quality &amp; Chain Metrics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035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91640"/>
            <a:ext cx="4709160" cy="3566160"/>
          </a:xfrm>
          <a:prstGeom prst="roundRect">
            <a:avLst>
              <a:gd name="adj" fmla="val 2051"/>
            </a:avLst>
          </a:prstGeom>
          <a:solidFill>
            <a:srgbClr val="1E1E22"/>
          </a:solidFill>
          <a:ln w="12700">
            <a:solidFill>
              <a:srgbClr val="2E2E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8040" y="1920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Documents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178040" y="2377440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8" name="Text 5"/>
          <p:cNvSpPr/>
          <p:nvPr/>
        </p:nvSpPr>
        <p:spPr>
          <a:xfrm>
            <a:off x="745236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category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78040" y="2862072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0" name="Text 7"/>
          <p:cNvSpPr/>
          <p:nvPr/>
        </p:nvSpPr>
        <p:spPr>
          <a:xfrm>
            <a:off x="7452360" y="27249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T-code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178040" y="3346704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2" name="Text 9"/>
          <p:cNvSpPr/>
          <p:nvPr/>
        </p:nvSpPr>
        <p:spPr>
          <a:xfrm>
            <a:off x="7452360" y="320954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v3.1 base score + vector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78040" y="3831336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36941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178040" y="4315968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6" name="Text 13"/>
          <p:cNvSpPr/>
          <p:nvPr/>
        </p:nvSpPr>
        <p:spPr>
          <a:xfrm>
            <a:off x="7452360" y="41788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guidance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auto-generated post-completion — includes full chaining narrative from Stage 1 to full compromise.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— Meridian HR Portal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0"/>
          </a:xfrm>
          <a:prstGeom prst="line">
            <a:avLst/>
          </a:prstGeom>
          <a:noFill/>
          <a:ln w="12700">
            <a:solidFill>
              <a:srgbClr val="2E2E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32304"/>
            <a:ext cx="128016" cy="12801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04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chain templates — finance app, DevOps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80944"/>
            <a:ext cx="128016" cy="12801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529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difficulty tiers per chain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28016" cy="12801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4015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&amp; cohort analytics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128016" cy="12801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502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4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Defensive Code Review content library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96596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E1E22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F4F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Innovative Ills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4652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turned isolated CTF challenges into a realistic, server-hardened exploit chain — positioning PWNDORA's catalog at the advanced, OSCP/PNPT-ready tier.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4480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52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ILLS  |  MERIDIAN HR PORTAL — PWNDORA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5471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866</Words>
  <Application>Microsoft Office PowerPoint</Application>
  <PresentationFormat>Widescreen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geryanton263@outlook.com</cp:lastModifiedBy>
  <cp:revision>2</cp:revision>
  <dcterms:created xsi:type="dcterms:W3CDTF">2026-07-25T09:49:57Z</dcterms:created>
  <dcterms:modified xsi:type="dcterms:W3CDTF">2026-07-25T10:01:45Z</dcterms:modified>
</cp:coreProperties>
</file>